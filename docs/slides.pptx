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pipeline is an LLM classification pass over deduplicated metadata rows, followed by UniProt resolution with a SQLite cache. Stage 3.1 re-queries BigQuery on every run, so corpus counts track the release rather than a snapshot.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DNA and DAPI top the collapse table with 69 and 48 labels, but that is cyclic imaging numbering the nuclear channel per cycle rather than genuine disagreement, so they are left out here.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substrate a comparison program would build on. Recommended matching ladder for an external marker: exact canonical name, then UniProt accession, then manual review with the decision recorded.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scanning gap and the extension stage are issue #1 and stage 2.4 respectively. The classification pass is a single Haiku batch job, about fifteen cents.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hyperlink" Target="https://github.com/ncihtan/mif-explorer"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Harmonizing HTAN imaging channel metadata</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channel-metadata-agent, Release 7.0</a:t>
            </a:r>
            <a:br/>
            <a:br/>
            <a:r>
              <a:rPr/>
              <a:t>Adam Taylor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Thirteen formats, one vocabulary</a:t>
            </a:r>
          </a:p>
        </p:txBody>
      </p:sp>
      <p:sp>
        <p:nvSpPr>
          <p:cNvPr id="3" name="Content Placeholder 2"/>
          <p:cNvSpPr>
            <a:spLocks noGrp="1"/>
          </p:cNvSpPr>
          <p:nvPr>
            <p:ph idx="1"/>
          </p:nvPr>
        </p:nvSpPr>
        <p:spPr/>
        <p:txBody>
          <a:bodyPr/>
          <a:lstStyle/>
          <a:p>
            <a:pPr lvl="0" indent="0" marL="0">
              <a:buNone/>
            </a:pPr>
            <a:r>
              <a:rPr/>
              <a:t>HTAN multiplexed imaging, Release 7.0: </a:t>
            </a:r>
            <a:r>
              <a:rPr b="1"/>
              <a:t>5,982 files</a:t>
            </a:r>
            <a:r>
              <a:rPr/>
              <a:t>, 566 participants, </a:t>
            </a:r>
            <a:r>
              <a:rPr b="1"/>
              <a:t>13 centres</a:t>
            </a:r>
            <a:r>
              <a:rPr/>
              <a:t>, 11 assay types, 24 diagnoses.</a:t>
            </a:r>
          </a:p>
          <a:p>
            <a:pPr lvl="0" indent="0" marL="0">
              <a:buNone/>
            </a:pPr>
            <a:r>
              <a:rPr/>
              <a:t>Every centre ships its own channel metadata. Different column names, different marker spellings, different views on what counts as a target. Individually legible, collectively unqueryable.</a:t>
            </a:r>
          </a:p>
          <a:p>
            <a:pPr lvl="0" indent="0" marL="0">
              <a:buNone/>
            </a:pPr>
            <a:r>
              <a:rPr>
                <a:latin typeface="Courier"/>
              </a:rPr>
              <a:t>channel-metadata-agent</a:t>
            </a:r>
            <a:r>
              <a:rPr/>
              <a:t> reads all 714 channel metadata files and emits one typed, UniProt-resolved marker list, with row-level provenance back to the file each assertion came from.</a:t>
            </a:r>
          </a:p>
          <a:p>
            <a:pPr lvl="0" indent="0">
              <a:buNone/>
            </a:pPr>
            <a:r>
              <a:rPr>
                <a:latin typeface="Courier"/>
              </a:rPr>
              <a:t>Synapse channel metadata ─┐
                          ├─► curated markers ─► panels ─┐
BigQuery release tables ──┘                              ├─► manifest / panels / library
UniProt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collapses</a:t>
            </a:r>
          </a:p>
        </p:txBody>
      </p:sp>
      <p:sp>
        <p:nvSpPr>
          <p:cNvPr id="4" name="Text Placeholder 3"/>
          <p:cNvSpPr>
            <a:spLocks noGrp="1"/>
          </p:cNvSpPr>
          <p:nvPr>
            <p:ph idx="2" sz="half" type="body"/>
          </p:nvPr>
        </p:nvSpPr>
        <p:spPr/>
        <p:txBody>
          <a:bodyPr/>
          <a:lstStyle/>
          <a:p>
            <a:pPr lvl="0" indent="0">
              <a:buNone/>
            </a:pPr>
            <a:r>
              <a:rPr>
                <a:latin typeface="Courier"/>
              </a:rPr>
              <a:t>3,647 metadata rows
  └─► 1,013 distinct centre labels
        └─► 621 canonical markers
              └─► 413 UniProt accessions</a:t>
            </a:r>
          </a:p>
          <a:p>
            <a:pPr lvl="0" indent="0" marL="0">
              <a:buNone/>
            </a:pPr>
            <a:r>
              <a:rPr/>
              <a:t>459 markers were written one way only. 82 were written three or more ways. 543 markers are protein-like; 474 of those resolve to UniProt.</a:t>
            </a:r>
          </a:p>
          <a:p>
            <a:pPr lvl="0" indent="0" marL="0">
              <a:buNone/>
            </a:pPr>
            <a:r>
              <a:rPr/>
              <a:t>616 panels carry targets, median 28 each, but they describe only </a:t>
            </a:r>
            <a:r>
              <a:rPr b="1"/>
              <a:t>125 distinct target sets</a:t>
            </a:r>
            <a:r>
              <a:rPr/>
              <a:t>: most panels are a standard panel reapplied.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Marker</a:t>
                      </a:r>
                    </a:p>
                  </a:txBody>
                  <a:tcPr/>
                </a:tc>
                <a:tc>
                  <a:txBody>
                    <a:bodyPr/>
                    <a:lstStyle/>
                    <a:p>
                      <a:pPr lvl="0" indent="0" marL="0" algn="r">
                        <a:buNone/>
                      </a:pPr>
                      <a:r>
                        <a:rPr/>
                        <a:t>Labels</a:t>
                      </a:r>
                    </a:p>
                  </a:txBody>
                  <a:tcPr/>
                </a:tc>
                <a:tc>
                  <a:txBody>
                    <a:bodyPr/>
                    <a:lstStyle/>
                    <a:p>
                      <a:pPr lvl="0" indent="0" marL="0">
                        <a:buNone/>
                      </a:pPr>
                      <a:r>
                        <a:rPr/>
                        <a:t>How centres wrote it</a:t>
                      </a:r>
                    </a:p>
                  </a:txBody>
                  <a:tcPr/>
                </a:tc>
              </a:tr>
              <a:tr h="0">
                <a:tc>
                  <a:txBody>
                    <a:bodyPr/>
                    <a:lstStyle/>
                    <a:p>
                      <a:pPr lvl="0" indent="0" marL="0">
                        <a:buNone/>
                      </a:pPr>
                      <a:r>
                        <a:rPr/>
                        <a:t>Ki67</a:t>
                      </a:r>
                    </a:p>
                  </a:txBody>
                </a:tc>
                <a:tc>
                  <a:txBody>
                    <a:bodyPr/>
                    <a:lstStyle/>
                    <a:p>
                      <a:pPr lvl="0" indent="0" marL="0" algn="r">
                        <a:buNone/>
                      </a:pPr>
                      <a:r>
                        <a:rPr/>
                        <a:t>13</a:t>
                      </a:r>
                    </a:p>
                  </a:txBody>
                </a:tc>
                <a:tc>
                  <a:txBody>
                    <a:bodyPr/>
                    <a:lstStyle/>
                    <a:p>
                      <a:pPr lvl="0" indent="0" marL="0">
                        <a:buNone/>
                      </a:pPr>
                      <a:r>
                        <a:rPr>
                          <a:latin typeface="Courier"/>
                        </a:rPr>
                        <a:t>KI67</a:t>
                      </a:r>
                      <a:r>
                        <a:rPr/>
                        <a:t>, </a:t>
                      </a:r>
                      <a:r>
                        <a:rPr>
                          <a:latin typeface="Courier"/>
                        </a:rPr>
                        <a:t>Ki-67</a:t>
                      </a:r>
                      <a:r>
                        <a:rPr/>
                        <a:t>, </a:t>
                      </a:r>
                      <a:r>
                        <a:rPr>
                          <a:latin typeface="Courier"/>
                        </a:rPr>
                        <a:t>Antigen Ki67</a:t>
                      </a:r>
                      <a:r>
                        <a:rPr/>
                        <a:t>, </a:t>
                      </a:r>
                      <a:r>
                        <a:rPr>
                          <a:latin typeface="Courier"/>
                        </a:rPr>
                        <a:t>04_Ki-67_Argo555L</a:t>
                      </a:r>
                    </a:p>
                  </a:txBody>
                </a:tc>
              </a:tr>
              <a:tr h="0">
                <a:tc>
                  <a:txBody>
                    <a:bodyPr/>
                    <a:lstStyle/>
                    <a:p>
                      <a:pPr lvl="0" indent="0" marL="0">
                        <a:buNone/>
                      </a:pPr>
                      <a:r>
                        <a:rPr/>
                        <a:t>PD-L1</a:t>
                      </a:r>
                    </a:p>
                  </a:txBody>
                </a:tc>
                <a:tc>
                  <a:txBody>
                    <a:bodyPr/>
                    <a:lstStyle/>
                    <a:p>
                      <a:pPr lvl="0" indent="0" marL="0" algn="r">
                        <a:buNone/>
                      </a:pPr>
                      <a:r>
                        <a:rPr/>
                        <a:t>12</a:t>
                      </a:r>
                    </a:p>
                  </a:txBody>
                </a:tc>
                <a:tc>
                  <a:txBody>
                    <a:bodyPr/>
                    <a:lstStyle/>
                    <a:p>
                      <a:pPr lvl="0" indent="0" marL="0">
                        <a:buNone/>
                      </a:pPr>
                      <a:r>
                        <a:rPr>
                          <a:latin typeface="Courier"/>
                        </a:rPr>
                        <a:t>PD-L1 (28-8)</a:t>
                      </a:r>
                      <a:r>
                        <a:rPr/>
                        <a:t>, </a:t>
                      </a:r>
                      <a:r>
                        <a:rPr>
                          <a:latin typeface="Courier"/>
                        </a:rPr>
                        <a:t>PD-L1 (E1L3N)</a:t>
                      </a:r>
                      <a:r>
                        <a:rPr/>
                        <a:t>, </a:t>
                      </a:r>
                      <a:r>
                        <a:rPr>
                          <a:latin typeface="Courier"/>
                        </a:rPr>
                        <a:t>11_PD-L1_Argo662</a:t>
                      </a:r>
                    </a:p>
                  </a:txBody>
                </a:tc>
              </a:tr>
              <a:tr h="0">
                <a:tc>
                  <a:txBody>
                    <a:bodyPr/>
                    <a:lstStyle/>
                    <a:p>
                      <a:pPr lvl="0" indent="0" marL="0">
                        <a:buNone/>
                      </a:pPr>
                      <a:r>
                        <a:rPr/>
                        <a:t>Vimentin</a:t>
                      </a:r>
                    </a:p>
                  </a:txBody>
                </a:tc>
                <a:tc>
                  <a:txBody>
                    <a:bodyPr/>
                    <a:lstStyle/>
                    <a:p>
                      <a:pPr lvl="0" indent="0" marL="0" algn="r">
                        <a:buNone/>
                      </a:pPr>
                      <a:r>
                        <a:rPr/>
                        <a:t>10</a:t>
                      </a:r>
                    </a:p>
                  </a:txBody>
                </a:tc>
                <a:tc>
                  <a:txBody>
                    <a:bodyPr/>
                    <a:lstStyle/>
                    <a:p>
                      <a:pPr lvl="0" indent="0" marL="0">
                        <a:buNone/>
                      </a:pPr>
                      <a:r>
                        <a:rPr>
                          <a:latin typeface="Courier"/>
                        </a:rPr>
                        <a:t>VIM</a:t>
                      </a:r>
                      <a:r>
                        <a:rPr/>
                        <a:t>, </a:t>
                      </a:r>
                      <a:r>
                        <a:rPr>
                          <a:latin typeface="Courier"/>
                        </a:rPr>
                        <a:t>VIMENTIN</a:t>
                      </a:r>
                      <a:r>
                        <a:rPr/>
                        <a:t>, </a:t>
                      </a:r>
                      <a:r>
                        <a:rPr>
                          <a:latin typeface="Courier"/>
                        </a:rPr>
                        <a:t>Vimentin (D)</a:t>
                      </a:r>
                      <a:r>
                        <a:rPr/>
                        <a:t>, </a:t>
                      </a:r>
                      <a:r>
                        <a:rPr>
                          <a:latin typeface="Courier"/>
                        </a:rPr>
                        <a:t>Target:Vimentin</a:t>
                      </a:r>
                    </a:p>
                  </a:txBody>
                </a:tc>
              </a:tr>
              <a:tr h="0">
                <a:tc>
                  <a:txBody>
                    <a:bodyPr/>
                    <a:lstStyle/>
                    <a:p>
                      <a:pPr lvl="0" indent="0" marL="0">
                        <a:buNone/>
                      </a:pPr>
                      <a:r>
                        <a:rPr/>
                        <a:t>E-cadherin</a:t>
                      </a:r>
                    </a:p>
                  </a:txBody>
                </a:tc>
                <a:tc>
                  <a:txBody>
                    <a:bodyPr/>
                    <a:lstStyle/>
                    <a:p>
                      <a:pPr lvl="0" indent="0" marL="0" algn="r">
                        <a:buNone/>
                      </a:pPr>
                      <a:r>
                        <a:rPr/>
                        <a:t>10</a:t>
                      </a:r>
                    </a:p>
                  </a:txBody>
                </a:tc>
                <a:tc>
                  <a:txBody>
                    <a:bodyPr/>
                    <a:lstStyle/>
                    <a:p>
                      <a:pPr lvl="0" indent="0" marL="0">
                        <a:buNone/>
                      </a:pPr>
                      <a:r>
                        <a:rPr>
                          <a:latin typeface="Courier"/>
                        </a:rPr>
                        <a:t>E-Cad</a:t>
                      </a:r>
                      <a:r>
                        <a:rPr/>
                        <a:t>, </a:t>
                      </a:r>
                      <a:r>
                        <a:rPr>
                          <a:latin typeface="Courier"/>
                        </a:rPr>
                        <a:t>ECAD</a:t>
                      </a:r>
                      <a:r>
                        <a:rPr/>
                        <a:t>, </a:t>
                      </a:r>
                      <a:r>
                        <a:rPr>
                          <a:latin typeface="Courier"/>
                        </a:rPr>
                        <a:t>Ecad</a:t>
                      </a:r>
                      <a:r>
                        <a:rPr/>
                        <a:t>, </a:t>
                      </a:r>
                      <a:r>
                        <a:rPr>
                          <a:latin typeface="Courier"/>
                        </a:rPr>
                        <a:t>13_E-Cadherin_Argo730</a:t>
                      </a:r>
                    </a:p>
                  </a:txBody>
                </a:tc>
              </a:tr>
              <a:tr h="0">
                <a:tc>
                  <a:txBody>
                    <a:bodyPr/>
                    <a:lstStyle/>
                    <a:p>
                      <a:pPr lvl="0" indent="0" marL="0">
                        <a:buNone/>
                      </a:pPr>
                      <a:r>
                        <a:rPr/>
                        <a:t>Granzyme B</a:t>
                      </a:r>
                    </a:p>
                  </a:txBody>
                </a:tc>
                <a:tc>
                  <a:txBody>
                    <a:bodyPr/>
                    <a:lstStyle/>
                    <a:p>
                      <a:pPr lvl="0" indent="0" marL="0" algn="r">
                        <a:buNone/>
                      </a:pPr>
                      <a:r>
                        <a:rPr/>
                        <a:t>8</a:t>
                      </a:r>
                    </a:p>
                  </a:txBody>
                </a:tc>
                <a:tc>
                  <a:txBody>
                    <a:bodyPr/>
                    <a:lstStyle/>
                    <a:p>
                      <a:pPr lvl="0" indent="0" marL="0">
                        <a:buNone/>
                      </a:pPr>
                      <a:r>
                        <a:rPr>
                          <a:latin typeface="Courier"/>
                        </a:rPr>
                        <a:t>GRZB</a:t>
                      </a:r>
                      <a:r>
                        <a:rPr/>
                        <a:t>, </a:t>
                      </a:r>
                      <a:r>
                        <a:rPr>
                          <a:latin typeface="Courier"/>
                        </a:rPr>
                        <a:t>GZMB</a:t>
                      </a:r>
                      <a:r>
                        <a:rPr/>
                        <a:t>, </a:t>
                      </a:r>
                      <a:r>
                        <a:rPr>
                          <a:latin typeface="Courier"/>
                        </a:rPr>
                        <a:t>GrzB</a:t>
                      </a:r>
                      <a:r>
                        <a:rPr/>
                        <a:t>, </a:t>
                      </a:r>
                      <a:r>
                        <a:rPr>
                          <a:latin typeface="Courier"/>
                        </a:rPr>
                        <a:t>GramzymB</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it enables: comparing studies</a:t>
            </a:r>
          </a:p>
        </p:txBody>
      </p:sp>
      <p:sp>
        <p:nvSpPr>
          <p:cNvPr id="4" name="Text Placeholder 3"/>
          <p:cNvSpPr>
            <a:spLocks noGrp="1"/>
          </p:cNvSpPr>
          <p:nvPr>
            <p:ph idx="2" sz="half" type="body"/>
          </p:nvPr>
        </p:nvSpPr>
        <p:spPr/>
        <p:txBody>
          <a:bodyPr/>
          <a:lstStyle/>
          <a:p>
            <a:pPr lvl="0" indent="0" marL="0">
              <a:buNone/>
            </a:pPr>
            <a:r>
              <a:rPr b="1"/>
              <a:t>28 markers appear at more than half of the 13 centres.</a:t>
            </a:r>
            <a:r>
              <a:rPr/>
              <a:t> That is the practical intersection for any cross-study comparison:</a:t>
            </a:r>
          </a:p>
          <a:p>
            <a:pPr lvl="0" indent="0" marL="1270000">
              <a:buNone/>
            </a:pPr>
            <a:r>
              <a:rPr sz="2000"/>
              <a:t>CD4, CD68, FOXP3, Ki67, CD20, CD45, CD8, CD31, PD-L1, Vimentin, CD163, CD3, PD1, HLA-DR, CD11B, DAPI, E-cadherin, CD11c, CD14, CD44, DNA, PanCytokeratin, Granzyme B, PanCK, CD45RO, Podoplanin, Lag3, CD3e</a:t>
            </a:r>
          </a:p>
          <a:p>
            <a:pPr lvl="0" indent="0" marL="0">
              <a:buNone/>
            </a:pPr>
            <a:r>
              <a:rPr/>
              <a:t>Against that, </a:t>
            </a:r>
            <a:r>
              <a:rPr b="1"/>
              <a:t>405 of 621 markers (65%) appear at a single centre</a:t>
            </a:r>
            <a:r>
              <a:rPr/>
              <a:t>, and 480 in a single assay type.</a:t>
            </a:r>
          </a:p>
          <a:p>
            <a:pPr lvl="0" indent="0" marL="0">
              <a:buNone/>
            </a:pPr>
            <a:r>
              <a:rPr/>
              <a:t>An immune and structural backbone shared across centres, plus a large private extension each. Intersection comparisons are limited to roughly 28 markers; union comparisons have to reason about absence, because a missing marker means the centre did not stain for it.</a:t>
            </a:r>
          </a:p>
          <a:p>
            <a:pPr lvl="0" indent="0">
              <a:buNone/>
            </a:pPr>
            <a:r>
              <a:rPr>
                <a:latin typeface="Courier"/>
              </a:rPr>
              <a:t>manifest ──panel_id──► panels ──target──► library
centre, assay,         targets,           uniprot, function,
participant, diagnosis channels           location, type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Centre</a:t>
                      </a:r>
                    </a:p>
                  </a:txBody>
                  <a:tcPr/>
                </a:tc>
                <a:tc>
                  <a:txBody>
                    <a:bodyPr/>
                    <a:lstStyle/>
                    <a:p>
                      <a:pPr lvl="0" indent="0" marL="0" algn="r">
                        <a:buNone/>
                      </a:pPr>
                      <a:r>
                        <a:rPr/>
                        <a:t>Markers</a:t>
                      </a:r>
                    </a:p>
                  </a:txBody>
                  <a:tcPr/>
                </a:tc>
                <a:tc>
                  <a:txBody>
                    <a:bodyPr/>
                    <a:lstStyle/>
                    <a:p>
                      <a:pPr lvl="0" indent="0" marL="0" algn="r">
                        <a:buNone/>
                      </a:pPr>
                      <a:r>
                        <a:rPr/>
                        <a:t>Seen nowhere else</a:t>
                      </a:r>
                    </a:p>
                  </a:txBody>
                  <a:tcPr/>
                </a:tc>
              </a:tr>
              <a:tr h="0">
                <a:tc>
                  <a:txBody>
                    <a:bodyPr/>
                    <a:lstStyle/>
                    <a:p>
                      <a:pPr lvl="0" indent="0" marL="0">
                        <a:buNone/>
                      </a:pPr>
                      <a:r>
                        <a:rPr/>
                        <a:t>HMS</a:t>
                      </a:r>
                    </a:p>
                  </a:txBody>
                </a:tc>
                <a:tc>
                  <a:txBody>
                    <a:bodyPr/>
                    <a:lstStyle/>
                    <a:p>
                      <a:pPr lvl="0" indent="0" marL="0" algn="r">
                        <a:buNone/>
                      </a:pPr>
                      <a:r>
                        <a:rPr/>
                        <a:t>196</a:t>
                      </a:r>
                    </a:p>
                  </a:txBody>
                </a:tc>
                <a:tc>
                  <a:txBody>
                    <a:bodyPr/>
                    <a:lstStyle/>
                    <a:p>
                      <a:pPr lvl="0" indent="0" marL="0" algn="r">
                        <a:buNone/>
                      </a:pPr>
                      <a:r>
                        <a:rPr/>
                        <a:t>80</a:t>
                      </a:r>
                    </a:p>
                  </a:txBody>
                </a:tc>
              </a:tr>
              <a:tr h="0">
                <a:tc>
                  <a:txBody>
                    <a:bodyPr/>
                    <a:lstStyle/>
                    <a:p>
                      <a:pPr lvl="0" indent="0" marL="0">
                        <a:buNone/>
                      </a:pPr>
                      <a:r>
                        <a:rPr/>
                        <a:t>TNP SARDANA</a:t>
                      </a:r>
                    </a:p>
                  </a:txBody>
                </a:tc>
                <a:tc>
                  <a:txBody>
                    <a:bodyPr/>
                    <a:lstStyle/>
                    <a:p>
                      <a:pPr lvl="0" indent="0" marL="0" algn="r">
                        <a:buNone/>
                      </a:pPr>
                      <a:r>
                        <a:rPr/>
                        <a:t>182</a:t>
                      </a:r>
                    </a:p>
                  </a:txBody>
                </a:tc>
                <a:tc>
                  <a:txBody>
                    <a:bodyPr/>
                    <a:lstStyle/>
                    <a:p>
                      <a:pPr lvl="0" indent="0" marL="0" algn="r">
                        <a:buNone/>
                      </a:pPr>
                      <a:r>
                        <a:rPr/>
                        <a:t>67</a:t>
                      </a:r>
                    </a:p>
                  </a:txBody>
                </a:tc>
              </a:tr>
              <a:tr h="0">
                <a:tc>
                  <a:txBody>
                    <a:bodyPr/>
                    <a:lstStyle/>
                    <a:p>
                      <a:pPr lvl="0" indent="0" marL="0">
                        <a:buNone/>
                      </a:pPr>
                      <a:r>
                        <a:rPr/>
                        <a:t>OHSU</a:t>
                      </a:r>
                    </a:p>
                  </a:txBody>
                </a:tc>
                <a:tc>
                  <a:txBody>
                    <a:bodyPr/>
                    <a:lstStyle/>
                    <a:p>
                      <a:pPr lvl="0" indent="0" marL="0" algn="r">
                        <a:buNone/>
                      </a:pPr>
                      <a:r>
                        <a:rPr/>
                        <a:t>143</a:t>
                      </a:r>
                    </a:p>
                  </a:txBody>
                </a:tc>
                <a:tc>
                  <a:txBody>
                    <a:bodyPr/>
                    <a:lstStyle/>
                    <a:p>
                      <a:pPr lvl="0" indent="0" marL="0" algn="r">
                        <a:buNone/>
                      </a:pPr>
                      <a:r>
                        <a:rPr/>
                        <a:t>26</a:t>
                      </a:r>
                    </a:p>
                  </a:txBody>
                </a:tc>
              </a:tr>
              <a:tr h="0">
                <a:tc>
                  <a:txBody>
                    <a:bodyPr/>
                    <a:lstStyle/>
                    <a:p>
                      <a:pPr lvl="0" indent="0" marL="0">
                        <a:buNone/>
                      </a:pPr>
                      <a:r>
                        <a:rPr/>
                        <a:t>Stanford</a:t>
                      </a:r>
                    </a:p>
                  </a:txBody>
                </a:tc>
                <a:tc>
                  <a:txBody>
                    <a:bodyPr/>
                    <a:lstStyle/>
                    <a:p>
                      <a:pPr lvl="0" indent="0" marL="0" algn="r">
                        <a:buNone/>
                      </a:pPr>
                      <a:r>
                        <a:rPr/>
                        <a:t>115</a:t>
                      </a:r>
                    </a:p>
                  </a:txBody>
                </a:tc>
                <a:tc>
                  <a:txBody>
                    <a:bodyPr/>
                    <a:lstStyle/>
                    <a:p>
                      <a:pPr lvl="0" indent="0" marL="0" algn="r">
                        <a:buNone/>
                      </a:pPr>
                      <a:r>
                        <a:rPr/>
                        <a:t>64</a:t>
                      </a:r>
                    </a:p>
                  </a:txBody>
                </a:tc>
              </a:tr>
              <a:tr h="0">
                <a:tc>
                  <a:txBody>
                    <a:bodyPr/>
                    <a:lstStyle/>
                    <a:p>
                      <a:pPr lvl="0" indent="0" marL="0">
                        <a:buNone/>
                      </a:pPr>
                      <a:r>
                        <a:rPr/>
                        <a:t>…</a:t>
                      </a:r>
                    </a:p>
                  </a:txBody>
                </a:tc>
                <a:tc>
                  <a:txBody>
                    <a:bodyPr/>
                    <a:lstStyle/>
                    <a:p>
                      <a:endParaRPr/>
                    </a:p>
                  </a:txBody>
                </a:tc>
                <a:tc>
                  <a:txBody>
                    <a:bodyPr/>
                    <a:lstStyle/>
                    <a:p>
                      <a:endParaRPr/>
                    </a:p>
                  </a:txBody>
                </a:tc>
              </a:tr>
              <a:tr h="0">
                <a:tc>
                  <a:txBody>
                    <a:bodyPr/>
                    <a:lstStyle/>
                    <a:p>
                      <a:pPr lvl="0" indent="0" marL="0">
                        <a:buNone/>
                      </a:pPr>
                      <a:r>
                        <a:rPr/>
                        <a:t>BU</a:t>
                      </a:r>
                    </a:p>
                  </a:txBody>
                </a:tc>
                <a:tc>
                  <a:txBody>
                    <a:bodyPr/>
                    <a:lstStyle/>
                    <a:p>
                      <a:pPr lvl="0" indent="0" marL="0" algn="r">
                        <a:buNone/>
                      </a:pPr>
                      <a:r>
                        <a:rPr/>
                        <a:t>22</a:t>
                      </a:r>
                    </a:p>
                  </a:txBody>
                </a:tc>
                <a:tc>
                  <a:txBody>
                    <a:bodyPr/>
                    <a:lstStyle/>
                    <a:p>
                      <a:pPr lvl="0" indent="0" marL="0" algn="r">
                        <a:buNone/>
                      </a:pPr>
                      <a:r>
                        <a:rPr/>
                        <a:t>3</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Caveats and what is next</a:t>
            </a:r>
          </a:p>
        </p:txBody>
      </p:sp>
      <p:sp>
        <p:nvSpPr>
          <p:cNvPr id="3" name="Content Placeholder 2"/>
          <p:cNvSpPr>
            <a:spLocks noGrp="1"/>
          </p:cNvSpPr>
          <p:nvPr>
            <p:ph idx="1"/>
          </p:nvPr>
        </p:nvSpPr>
        <p:spPr/>
        <p:txBody>
          <a:bodyPr/>
          <a:lstStyle/>
          <a:p>
            <a:pPr lvl="0" indent="0" marL="0">
              <a:buNone/>
            </a:pPr>
            <a:r>
              <a:rPr/>
              <a:t>Known gaps, so nobody builds on them unaware:</a:t>
            </a:r>
          </a:p>
          <a:p>
            <a:pPr lvl="0"/>
            <a:r>
              <a:rPr b="1"/>
              <a:t>Names are not fully synonym-collapsed.</a:t>
            </a:r>
            <a:r>
              <a:rPr/>
              <a:t> </a:t>
            </a:r>
            <a:r>
              <a:rPr>
                <a:latin typeface="Courier"/>
              </a:rPr>
              <a:t>CD3</a:t>
            </a:r>
            <a:r>
              <a:rPr/>
              <a:t>, </a:t>
            </a:r>
            <a:r>
              <a:rPr>
                <a:latin typeface="Courier"/>
              </a:rPr>
              <a:t>CD3d</a:t>
            </a:r>
            <a:r>
              <a:rPr/>
              <a:t>, </a:t>
            </a:r>
            <a:r>
              <a:rPr>
                <a:latin typeface="Courier"/>
              </a:rPr>
              <a:t>CD3e</a:t>
            </a:r>
            <a:r>
              <a:rPr/>
              <a:t> are separate entries, as are </a:t>
            </a:r>
            <a:r>
              <a:rPr>
                <a:latin typeface="Courier"/>
              </a:rPr>
              <a:t>PanCK</a:t>
            </a:r>
            <a:r>
              <a:rPr/>
              <a:t>, </a:t>
            </a:r>
            <a:r>
              <a:rPr>
                <a:latin typeface="Courier"/>
              </a:rPr>
              <a:t>PanCytokeratin</a:t>
            </a:r>
            <a:r>
              <a:rPr/>
              <a:t>, </a:t>
            </a:r>
            <a:r>
              <a:rPr>
                <a:latin typeface="Courier"/>
              </a:rPr>
              <a:t>Cytokeratin (Pan)</a:t>
            </a:r>
            <a:r>
              <a:rPr/>
              <a:t>. The classifier saw one row at a time and could not merge across rows.</a:t>
            </a:r>
          </a:p>
          <a:p>
            <a:pPr lvl="0"/>
            <a:r>
              <a:rPr b="1"/>
              <a:t>53 UniProt accessions carry more than one marker name.</a:t>
            </a:r>
            <a:r>
              <a:rPr/>
              <a:t> Most are true synonyms; some are resolution errors. P02533 is attached to </a:t>
            </a:r>
            <a:r>
              <a:rPr>
                <a:latin typeface="Courier"/>
              </a:rPr>
              <a:t>Keratin 5</a:t>
            </a:r>
            <a:r>
              <a:rPr/>
              <a:t>, </a:t>
            </a:r>
            <a:r>
              <a:rPr>
                <a:latin typeface="Courier"/>
              </a:rPr>
              <a:t>Keratin 14</a:t>
            </a:r>
            <a:r>
              <a:rPr/>
              <a:t>, </a:t>
            </a:r>
            <a:r>
              <a:rPr>
                <a:latin typeface="Courier"/>
              </a:rPr>
              <a:t>Keratin 17</a:t>
            </a:r>
            <a:r>
              <a:rPr/>
              <a:t> and bare </a:t>
            </a:r>
            <a:r>
              <a:rPr>
                <a:latin typeface="Courier"/>
              </a:rPr>
              <a:t>Keratin</a:t>
            </a:r>
            <a:r>
              <a:rPr/>
              <a:t>, several of which co-occur in the same 17 panels.</a:t>
            </a:r>
          </a:p>
          <a:p>
            <a:pPr lvl="0"/>
            <a:r>
              <a:rPr b="1"/>
              <a:t>Confidence is heuristic</a:t>
            </a:r>
            <a:r>
              <a:rPr/>
              <a:t>, not curated: 231 of 474 at 0.9 or above, 243 between 0.6 and 0.9.</a:t>
            </a:r>
          </a:p>
          <a:p>
            <a:pPr lvl="0"/>
            <a:r>
              <a:rPr b="1"/>
              <a:t>78 of 621 markers are not targets</a:t>
            </a:r>
            <a:r>
              <a:rPr/>
              <a:t>: blanks, empty channels, bare isotopes. Filter on marker type.</a:t>
            </a:r>
          </a:p>
          <a:p>
            <a:pPr lvl="0"/>
            <a:r>
              <a:rPr b="1"/>
              <a:t>736 files have no targets yet</a:t>
            </a:r>
            <a:r>
              <a:rPr/>
              <a:t>, from 98 panels the curation has not reached.</a:t>
            </a:r>
          </a:p>
          <a:p>
            <a:pPr lvl="0" indent="0" marL="0">
              <a:buNone/>
            </a:pPr>
            <a:r>
              <a:rPr/>
              <a:t>Next: classify the 852 rows from the 97 tab-delimited files stage 1.1 used to skip, taking panel coverage to 714 of 714, then re-derive every number above.</a:t>
            </a:r>
          </a:p>
          <a:p>
            <a:pPr lvl="0" indent="0" marL="0">
              <a:buNone/>
            </a:pPr>
            <a:r>
              <a:rPr/>
              <a:t>Full numbers in </a:t>
            </a:r>
            <a:r>
              <a:rPr>
                <a:latin typeface="Courier"/>
              </a:rPr>
              <a:t>RESULTS.md</a:t>
            </a:r>
            <a:r>
              <a:rPr/>
              <a:t>, all reproducible with </a:t>
            </a:r>
            <a:r>
              <a:rPr>
                <a:latin typeface="Courier"/>
              </a:rPr>
              <a:t>uv run summary_stats.py</a:t>
            </a:r>
            <a:r>
              <a:rPr/>
              <a:t>. Consumed today by </a:t>
            </a:r>
            <a:r>
              <a:rPr>
                <a:hlinkClick r:id="rId3"/>
              </a:rPr>
              <a:t>mif-explorer</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Harmonizing HTAN imaging channel metadata</dc:title>
  <dc:creator>Adam Taylor</dc:creator>
  <cp:keywords/>
  <dcterms:created xsi:type="dcterms:W3CDTF">2026-09-22T14:13:04Z</dcterms:created>
  <dcterms:modified xsi:type="dcterms:W3CDTF">2026-09-22T14:13:04Z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channel-metadata-agent, Release 7.0</vt:lpwstr>
  </property>
</Properties>
</file>